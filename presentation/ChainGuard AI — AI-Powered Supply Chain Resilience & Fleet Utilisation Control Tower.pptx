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Inter" panose="020B0604020202020204" charset="0"/>
      <p:regular r:id="rId15"/>
    </p:embeddedFont>
    <p:embeddedFont>
      <p:font typeface="Inter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1" d="100"/>
          <a:sy n="71" d="100"/>
        </p:scale>
        <p:origin x="3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4280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rontend-theta-sandy-vt0dijop0s.vercel.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11" Type="http://schemas.openxmlformats.org/officeDocument/2006/relationships/image" Target="../media/image2.pn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frontend-theta-sandy-vt0dijop0s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95561"/>
            <a:ext cx="4383077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052215"/>
            <a:ext cx="476585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IBM BOB HACKATHON · SUPPLY CHAIN / LOGISTICS TRACK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3583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LiveCold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232422"/>
            <a:ext cx="10868745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b="1" kern="0" spc="-15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Supply Chain Disruption Assistant &amp; Fleet Utilisation Optimizer</a:t>
            </a:r>
            <a:endParaRPr lang="en-US" sz="5100" dirty="0"/>
          </a:p>
        </p:txBody>
      </p:sp>
      <p:sp>
        <p:nvSpPr>
          <p:cNvPr id="6" name="Text 4"/>
          <p:cNvSpPr/>
          <p:nvPr/>
        </p:nvSpPr>
        <p:spPr>
          <a:xfrm>
            <a:off x="661475" y="414625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disruption intelligence for resilient supply chains and protected cold-chain cargo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4661297"/>
            <a:ext cx="10868745" cy="685998"/>
          </a:xfrm>
          <a:prstGeom prst="roundRect">
            <a:avLst>
              <a:gd name="adj" fmla="val 1157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825" y="4667647"/>
            <a:ext cx="3618616" cy="673298"/>
          </a:xfrm>
          <a:custGeom>
            <a:avLst/>
            <a:gdLst/>
            <a:ahLst/>
            <a:cxnLst/>
            <a:rect l="l" t="t" r="r" b="b"/>
            <a:pathLst>
              <a:path w="3618616" h="673298">
                <a:moveTo>
                  <a:pt x="66156" y="0"/>
                </a:moveTo>
                <a:lnTo>
                  <a:pt x="3618616" y="0"/>
                </a:lnTo>
                <a:lnTo>
                  <a:pt x="3618616" y="673298"/>
                </a:lnTo>
                <a:lnTo>
                  <a:pt x="66156" y="673298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9" name="Text 7"/>
          <p:cNvSpPr/>
          <p:nvPr/>
        </p:nvSpPr>
        <p:spPr>
          <a:xfrm>
            <a:off x="856832" y="4856659"/>
            <a:ext cx="32406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24 Active Shipments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4286440" y="4667647"/>
            <a:ext cx="3618715" cy="673298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1" name="Shape 9"/>
          <p:cNvSpPr/>
          <p:nvPr/>
        </p:nvSpPr>
        <p:spPr>
          <a:xfrm>
            <a:off x="4286440" y="4667647"/>
            <a:ext cx="25399" cy="673298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/>
        </p:spPr>
      </p:sp>
      <p:sp>
        <p:nvSpPr>
          <p:cNvPr id="12" name="Text 10"/>
          <p:cNvSpPr/>
          <p:nvPr/>
        </p:nvSpPr>
        <p:spPr>
          <a:xfrm>
            <a:off x="4475447" y="4856659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 At Risk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7905155" y="4667647"/>
            <a:ext cx="3618715" cy="673298"/>
          </a:xfrm>
          <a:custGeom>
            <a:avLst/>
            <a:gdLst/>
            <a:ahLst/>
            <a:cxnLst/>
            <a:rect l="l" t="t" r="r" b="b"/>
            <a:pathLst>
              <a:path w="3618715" h="673298">
                <a:moveTo>
                  <a:pt x="0" y="0"/>
                </a:moveTo>
                <a:lnTo>
                  <a:pt x="3552558" y="0"/>
                </a:lnTo>
                <a:arcTo wR="66156" hR="66158" stAng="16200000" swAng="5400000"/>
                <a:lnTo>
                  <a:pt x="3618715" y="607140"/>
                </a:lnTo>
                <a:arcTo wR="66156" hR="66158" stAng="0" swAng="5400000"/>
                <a:lnTo>
                  <a:pt x="0" y="673298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14" name="Shape 12"/>
          <p:cNvSpPr/>
          <p:nvPr/>
        </p:nvSpPr>
        <p:spPr>
          <a:xfrm>
            <a:off x="7905155" y="4667647"/>
            <a:ext cx="25399" cy="673298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/>
        </p:spPr>
      </p:sp>
      <p:sp>
        <p:nvSpPr>
          <p:cNvPr id="15" name="Text 13"/>
          <p:cNvSpPr/>
          <p:nvPr/>
        </p:nvSpPr>
        <p:spPr>
          <a:xfrm>
            <a:off x="8094162" y="4856659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 Cold-Chain Alerts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61475" y="555992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LiveCold ·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Demo: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b="1" u="sng" kern="0" spc="-30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https://frontend-theta-sandy-vt0dijop0s.vercel.app/</a:t>
            </a:r>
            <a:endParaRPr lang="en-US" sz="14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79B6B53-F4AE-4A3B-95CB-C56B89FE5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0311501" y="6331432"/>
            <a:ext cx="1828301" cy="4628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84609"/>
            <a:ext cx="6296860" cy="1144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kern="0" spc="-10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Supply-chain disruptions don't stay local.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233360" y="2095004"/>
            <a:ext cx="3059730" cy="1636514"/>
          </a:xfrm>
          <a:prstGeom prst="roundRect">
            <a:avLst>
              <a:gd name="adj" fmla="val 46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2764" y="2284412"/>
            <a:ext cx="2680923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 — Disruption Cascade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22764" y="2676823"/>
            <a:ext cx="2680923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Weather, strikes and geopolitical issues can hit many shipments at once.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470390" y="2095004"/>
            <a:ext cx="3059830" cy="1636514"/>
          </a:xfrm>
          <a:prstGeom prst="roundRect">
            <a:avLst>
              <a:gd name="adj" fmla="val 46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59794" y="2284412"/>
            <a:ext cx="2681022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 — Fleet Imbalance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59794" y="2676823"/>
            <a:ext cx="2681022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 assets sit idle while other lanes become overloaded.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233360" y="3908822"/>
            <a:ext cx="6296860" cy="1059656"/>
          </a:xfrm>
          <a:prstGeom prst="roundRect">
            <a:avLst>
              <a:gd name="adj" fmla="val 725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2764" y="4098230"/>
            <a:ext cx="5918052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 — Cold-Chain Blind Spots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22764" y="4490641"/>
            <a:ext cx="5918052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 issues often appear too late to fix.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233360" y="5168007"/>
            <a:ext cx="6296860" cy="1005284"/>
          </a:xfrm>
          <a:prstGeom prst="roundRect">
            <a:avLst>
              <a:gd name="adj" fmla="val 7650"/>
            </a:avLst>
          </a:prstGeom>
          <a:solidFill>
            <a:srgbClr val="DADBF1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414" y="5421312"/>
            <a:ext cx="228793" cy="18305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28261" y="5391051"/>
            <a:ext cx="551890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b="1" kern="0" spc="-2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challenge is turning one event into fast, network-wide action.</a:t>
            </a:r>
            <a:endParaRPr lang="en-US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E471BB3-6086-4D9F-9C7E-6F5EC3F1DD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0311501" y="6331432"/>
            <a:ext cx="1828301" cy="4628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-17418"/>
            <a:ext cx="4571886" cy="68754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40048"/>
            <a:ext cx="6296860" cy="959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kern="0" spc="-9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LiveCold turns live signals into operational decisions.</a:t>
            </a:r>
            <a:endParaRPr lang="en-US" sz="3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687016"/>
            <a:ext cx="767835" cy="10669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54024" y="1840508"/>
            <a:ext cx="540431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Ingest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1554024" y="2155230"/>
            <a:ext cx="540431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Disruption events · Shipment status · Route info · Fleet availability · MQTT IoT telemetry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2754015"/>
            <a:ext cx="767835" cy="106699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54024" y="2907506"/>
            <a:ext cx="540431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Detect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1554024" y="3222228"/>
            <a:ext cx="540431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Affected shipments · Route disruptions · Temperature excursions · Fleet gaps · Risk severity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3821013"/>
            <a:ext cx="767835" cy="10669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54024" y="3974505"/>
            <a:ext cx="540431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Intelligence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1554024" y="4289227"/>
            <a:ext cx="540431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analytics · AI decision engine · Pathway RAG · Regulatory and SOP context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888012"/>
            <a:ext cx="767835" cy="106699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54024" y="5041503"/>
            <a:ext cx="540431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1554024" y="5356225"/>
            <a:ext cx="540431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Reroute · Alternative carriers · Fleet redeployment · Cold-chain intervention · Prioritization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661475" y="6095305"/>
            <a:ext cx="690644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Observe → Understand → Recommend → Act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event → intelligence → action architecture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 rotWithShape="1">
          <a:blip r:embed="rId3"/>
          <a:srcRect t="18763" b="22404"/>
          <a:stretch/>
        </p:blipFill>
        <p:spPr>
          <a:xfrm>
            <a:off x="426720" y="1084505"/>
            <a:ext cx="7315200" cy="496941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EF45E10-F111-4B52-A5A2-A43043D88553}"/>
              </a:ext>
            </a:extLst>
          </p:cNvPr>
          <p:cNvGrpSpPr/>
          <p:nvPr/>
        </p:nvGrpSpPr>
        <p:grpSpPr>
          <a:xfrm>
            <a:off x="7921401" y="2453376"/>
            <a:ext cx="3608819" cy="2413198"/>
            <a:chOff x="8464659" y="2811932"/>
            <a:chExt cx="2102789" cy="1228316"/>
          </a:xfrm>
        </p:grpSpPr>
        <p:sp>
          <p:nvSpPr>
            <p:cNvPr id="4" name="Text 1"/>
            <p:cNvSpPr/>
            <p:nvPr/>
          </p:nvSpPr>
          <p:spPr>
            <a:xfrm>
              <a:off x="8464659" y="2811932"/>
              <a:ext cx="1616200" cy="1523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400" b="1" kern="0" spc="-29" dirty="0">
                  <a:solidFill>
                    <a:srgbClr val="000000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Architecture Principle</a:t>
              </a:r>
              <a:endParaRPr lang="en-US" sz="24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8464660" y="3147672"/>
              <a:ext cx="2102788" cy="1180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1000"/>
                </a:lnSpc>
                <a:buNone/>
              </a:pPr>
              <a:r>
                <a:rPr lang="en-US" sz="1400" kern="0" spc="-1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Live signals + context → </a:t>
              </a:r>
              <a:r>
                <a:rPr lang="en-US" sz="1400" b="1" kern="0" spc="-15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actionable decisions</a:t>
              </a:r>
              <a:endParaRPr lang="en-US" sz="11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8464659" y="3379650"/>
              <a:ext cx="2064004" cy="6605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152400" indent="-152400" algn="l">
                <a:lnSpc>
                  <a:spcPct val="101000"/>
                </a:lnSpc>
                <a:buSzPct val="100000"/>
                <a:buChar char="•"/>
              </a:pPr>
              <a:r>
                <a:rPr lang="en-US" sz="1200" kern="0" spc="-1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Affected shipments</a:t>
              </a:r>
              <a:endParaRPr lang="en-US" sz="1200" dirty="0"/>
            </a:p>
            <a:p>
              <a:pPr marL="152400" indent="-152400" algn="l">
                <a:lnSpc>
                  <a:spcPct val="101000"/>
                </a:lnSpc>
                <a:buSzPct val="100000"/>
                <a:buChar char="•"/>
              </a:pPr>
              <a:r>
                <a:rPr lang="en-US" sz="1200" kern="0" spc="-1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Route changes</a:t>
              </a:r>
              <a:endParaRPr lang="en-US" sz="1200" dirty="0"/>
            </a:p>
            <a:p>
              <a:pPr marL="152400" indent="-152400" algn="l">
                <a:lnSpc>
                  <a:spcPct val="101000"/>
                </a:lnSpc>
                <a:buSzPct val="100000"/>
                <a:buChar char="•"/>
              </a:pPr>
              <a:r>
                <a:rPr lang="en-US" sz="1200" kern="0" spc="-1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Carrier selection</a:t>
              </a:r>
              <a:endParaRPr lang="en-US" sz="1200" dirty="0"/>
            </a:p>
            <a:p>
              <a:pPr marL="152400" indent="-152400" algn="l">
                <a:lnSpc>
                  <a:spcPct val="101000"/>
                </a:lnSpc>
                <a:buSzPct val="100000"/>
                <a:buChar char="•"/>
              </a:pPr>
              <a:r>
                <a:rPr lang="en-US" sz="1200" kern="0" spc="-1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Fleet redeployment</a:t>
              </a:r>
              <a:endParaRPr lang="en-US" sz="1200" dirty="0"/>
            </a:p>
            <a:p>
              <a:pPr marL="152400" indent="-152400" algn="l">
                <a:lnSpc>
                  <a:spcPct val="101000"/>
                </a:lnSpc>
                <a:buSzPct val="100000"/>
                <a:buChar char="•"/>
              </a:pPr>
              <a:r>
                <a:rPr lang="en-US" sz="1200" kern="0" spc="-1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Temperature risk</a:t>
              </a:r>
              <a:endParaRPr lang="en-US" sz="1200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BBD9118-447A-4DE4-9749-D41AE39FF1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0311501" y="6331432"/>
            <a:ext cx="1828301" cy="4628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 operational view. Every critical exception prioritized.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56766"/>
            <a:ext cx="5404806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kern="0" spc="-7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24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661475" y="1351260"/>
            <a:ext cx="540480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Active Shipments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125315" y="956766"/>
            <a:ext cx="5404905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kern="0" spc="-7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07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6125315" y="1351260"/>
            <a:ext cx="5404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 Risk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1475" y="1640582"/>
            <a:ext cx="5404806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kern="0" spc="-7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661475" y="2035076"/>
            <a:ext cx="540480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Cold-Chain Alerts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5315" y="1640582"/>
            <a:ext cx="5404905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kern="0" spc="-7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11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6125315" y="2035076"/>
            <a:ext cx="5404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Idle Assets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1475" y="2283023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Shipment Risk by Category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1475" y="2477889"/>
            <a:ext cx="5928668" cy="90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i="1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demo data</a:t>
            </a:r>
            <a:endParaRPr lang="en-US" sz="5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621657"/>
            <a:ext cx="5319083" cy="382875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217487" y="2283023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Cold-Chain Temperature — SHP-1088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17487" y="2477889"/>
            <a:ext cx="5928668" cy="90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i="1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demo data · Safe band: 2–8°C</a:t>
            </a:r>
            <a:endParaRPr lang="en-US" sz="5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487" y="2621657"/>
            <a:ext cx="5319083" cy="382875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E50738D-D3D5-481F-A244-082186DA6A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0311501" y="6331432"/>
            <a:ext cx="1828301" cy="462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Detect the excursion before delivery.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661475" y="909538"/>
            <a:ext cx="3591430" cy="283468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86350" y="980380"/>
            <a:ext cx="141681" cy="1416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5929" y="1240234"/>
            <a:ext cx="34025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Sensor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55929" y="1416149"/>
            <a:ext cx="340252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MQTT telemetry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4300132" y="909538"/>
            <a:ext cx="3591430" cy="283468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07" y="980380"/>
            <a:ext cx="141681" cy="1416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94586" y="1240234"/>
            <a:ext cx="34025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394586" y="1416149"/>
            <a:ext cx="340252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Crosses threshold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7938790" y="909538"/>
            <a:ext cx="3591430" cy="283468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63664" y="980380"/>
            <a:ext cx="141681" cy="1416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33244" y="1240234"/>
            <a:ext cx="34025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Classify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8033244" y="1416149"/>
            <a:ext cx="340252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Deviation · duration · severity</a:t>
            </a:r>
            <a:endParaRPr lang="en-US" sz="700" dirty="0"/>
          </a:p>
        </p:txBody>
      </p:sp>
      <p:sp>
        <p:nvSpPr>
          <p:cNvPr id="15" name="Shape 10"/>
          <p:cNvSpPr/>
          <p:nvPr/>
        </p:nvSpPr>
        <p:spPr>
          <a:xfrm>
            <a:off x="661475" y="1671241"/>
            <a:ext cx="3591430" cy="283468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86350" y="1742083"/>
            <a:ext cx="141681" cy="1416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55929" y="2001937"/>
            <a:ext cx="34025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Contextualize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755929" y="2177852"/>
            <a:ext cx="340252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Retrieves SOPs and handling rules</a:t>
            </a:r>
            <a:endParaRPr lang="en-US" sz="700" dirty="0"/>
          </a:p>
        </p:txBody>
      </p:sp>
      <p:sp>
        <p:nvSpPr>
          <p:cNvPr id="19" name="Shape 13"/>
          <p:cNvSpPr/>
          <p:nvPr/>
        </p:nvSpPr>
        <p:spPr>
          <a:xfrm>
            <a:off x="4300132" y="1671241"/>
            <a:ext cx="3591430" cy="283468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25007" y="1742083"/>
            <a:ext cx="141681" cy="1416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94586" y="2001937"/>
            <a:ext cx="34025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4394586" y="2177852"/>
            <a:ext cx="340252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→ isolate → divert</a:t>
            </a:r>
            <a:endParaRPr lang="en-US" sz="7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2438797"/>
            <a:ext cx="10868745" cy="50998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19427" y="2545953"/>
            <a:ext cx="10603639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8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🚨</a:t>
            </a:r>
            <a:r>
              <a:rPr lang="en-US" sz="9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SHP-1088 · CRITICAL EXCURSION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819427" y="2728218"/>
            <a:ext cx="1060363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kern="0" spc="-1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8.7°C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above the safe band.</a:t>
            </a:r>
            <a:endParaRPr lang="en-US" sz="700" dirty="0"/>
          </a:p>
        </p:txBody>
      </p:sp>
      <p:sp>
        <p:nvSpPr>
          <p:cNvPr id="26" name="Text 18"/>
          <p:cNvSpPr/>
          <p:nvPr/>
        </p:nvSpPr>
        <p:spPr>
          <a:xfrm>
            <a:off x="4229291" y="3192790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Fleet Status</a:t>
            </a:r>
            <a:endParaRPr lang="en-US" sz="145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94586" y="3034110"/>
            <a:ext cx="7492927" cy="3802063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8D3DA630-908A-432E-B684-89F71FE4CDB1}"/>
              </a:ext>
            </a:extLst>
          </p:cNvPr>
          <p:cNvGrpSpPr/>
          <p:nvPr/>
        </p:nvGrpSpPr>
        <p:grpSpPr>
          <a:xfrm>
            <a:off x="661475" y="5049458"/>
            <a:ext cx="5434528" cy="1136615"/>
            <a:chOff x="661473" y="5077456"/>
            <a:chExt cx="5434528" cy="1136615"/>
          </a:xfrm>
        </p:grpSpPr>
        <p:sp>
          <p:nvSpPr>
            <p:cNvPr id="28" name="Text 19"/>
            <p:cNvSpPr/>
            <p:nvPr/>
          </p:nvSpPr>
          <p:spPr>
            <a:xfrm>
              <a:off x="686873" y="5077456"/>
              <a:ext cx="4058747" cy="2362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b="1" kern="0" spc="-45" dirty="0">
                  <a:solidFill>
                    <a:srgbClr val="000000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Network Lane Recommendations</a:t>
              </a:r>
              <a:endParaRPr lang="en-US" dirty="0"/>
            </a:p>
          </p:txBody>
        </p:sp>
        <p:sp>
          <p:nvSpPr>
            <p:cNvPr id="29" name="Text 20"/>
            <p:cNvSpPr/>
            <p:nvPr/>
          </p:nvSpPr>
          <p:spPr>
            <a:xfrm>
              <a:off x="661473" y="5504359"/>
              <a:ext cx="5434528" cy="1134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900" kern="0" spc="-1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Prioritize rerouting the highest-risk lanes first, then rebalance capacity where the network </a:t>
              </a:r>
            </a:p>
            <a:p>
              <a:pPr marL="0" indent="0" algn="l">
                <a:lnSpc>
                  <a:spcPct val="100000"/>
                </a:lnSpc>
                <a:buNone/>
              </a:pPr>
              <a:r>
                <a:rPr lang="en-US" sz="900" kern="0" spc="-1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can absorb delays with the least disruption.</a:t>
              </a:r>
              <a:endParaRPr lang="en-US" sz="900" dirty="0"/>
            </a:p>
          </p:txBody>
        </p:sp>
        <p:sp>
          <p:nvSpPr>
            <p:cNvPr id="30" name="Text 21"/>
            <p:cNvSpPr/>
            <p:nvPr/>
          </p:nvSpPr>
          <p:spPr>
            <a:xfrm>
              <a:off x="661473" y="5840909"/>
              <a:ext cx="3638660" cy="3731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142240" indent="-142240" algn="l">
                <a:lnSpc>
                  <a:spcPct val="100000"/>
                </a:lnSpc>
                <a:buSzPct val="100000"/>
                <a:buChar char="•"/>
              </a:pPr>
              <a:r>
                <a:rPr lang="en-US" sz="900" kern="0" spc="-1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Shift sensitive freight away from disruption-prone lanes</a:t>
              </a:r>
              <a:endParaRPr lang="en-US" sz="900" dirty="0"/>
            </a:p>
            <a:p>
              <a:pPr marL="142240" indent="-142240" algn="l">
                <a:lnSpc>
                  <a:spcPct val="100000"/>
                </a:lnSpc>
                <a:buSzPct val="100000"/>
                <a:buChar char="•"/>
              </a:pPr>
              <a:r>
                <a:rPr lang="en-US" sz="900" kern="0" spc="-1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Divert flagged shipments to the nearest compliant facility</a:t>
              </a:r>
              <a:endParaRPr lang="en-US" sz="900" dirty="0"/>
            </a:p>
            <a:p>
              <a:pPr marL="142240" indent="-142240" algn="l">
                <a:lnSpc>
                  <a:spcPct val="100000"/>
                </a:lnSpc>
                <a:buSzPct val="100000"/>
                <a:buChar char="•"/>
              </a:pPr>
              <a:r>
                <a:rPr lang="en-US" sz="900" kern="0" spc="-1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Use idle assets to absorb overflow from constrained routes</a:t>
              </a:r>
              <a:endParaRPr lang="en-US" sz="900" dirty="0"/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3FD81823-0875-46A1-930E-550DA218045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0800000">
            <a:off x="10311501" y="6331432"/>
            <a:ext cx="1828301" cy="462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7276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this technology stack fits the problem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141438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755702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IBM Bob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164384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Speeds up engineering and integration.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2141438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755702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MQTT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164384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Streams cold-chain sensor telemetry.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844826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459089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Pathway RAG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4867771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Grounds decisions in live knowledge.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13915" y="3844826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459089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Streaming AI Engine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4867771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Turns live events into actions.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61475" y="538281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performance with live deployment telemetry during validation.</a:t>
            </a:r>
            <a:endParaRPr lang="en-US" sz="14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3EC050E-157B-4987-9CC8-DB687002DD9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10311501" y="6331432"/>
            <a:ext cx="1828301" cy="462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83704"/>
            <a:ext cx="6296860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kern="0" spc="-7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Built for real-world supply-chain operations.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233360" y="1505446"/>
            <a:ext cx="6296860" cy="932656"/>
          </a:xfrm>
          <a:prstGeom prst="roundRect">
            <a:avLst>
              <a:gd name="adj" fmla="val 5719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79407" y="1651496"/>
            <a:ext cx="600476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/ Team Lead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379407" y="1901130"/>
            <a:ext cx="6004767" cy="3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000"/>
              </a:lnSpc>
              <a:spcAft>
                <a:spcPts val="400"/>
              </a:spcAft>
              <a:buNone/>
            </a:pPr>
            <a:r>
              <a:rPr lang="en-US" sz="950" b="1" kern="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[Krish Sankhavara]</a:t>
            </a:r>
            <a:endParaRPr lang="en-US" sz="9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framing · UX · Integration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233360" y="2523430"/>
            <a:ext cx="6296860" cy="932656"/>
          </a:xfrm>
          <a:prstGeom prst="roundRect">
            <a:avLst>
              <a:gd name="adj" fmla="val 5719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79407" y="2669480"/>
            <a:ext cx="600476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/ Data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79407" y="2919115"/>
            <a:ext cx="6004767" cy="3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000"/>
              </a:lnSpc>
              <a:spcAft>
                <a:spcPts val="400"/>
              </a:spcAft>
              <a:buNone/>
            </a:pPr>
            <a:r>
              <a:rPr lang="en-IN" sz="950" b="1" kern="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H</a:t>
            </a:r>
            <a:r>
              <a:rPr lang="en-US" sz="950" b="1" kern="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it Barvaliya</a:t>
            </a:r>
            <a:endParaRPr lang="en-US" sz="9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intelligence · RAG · Risk scoring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233360" y="3541415"/>
            <a:ext cx="6296860" cy="932656"/>
          </a:xfrm>
          <a:prstGeom prst="roundRect">
            <a:avLst>
              <a:gd name="adj" fmla="val 5719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79407" y="3687465"/>
            <a:ext cx="600476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 Stack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79407" y="3937099"/>
            <a:ext cx="6004767" cy="3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1000"/>
              </a:lnSpc>
              <a:spcAft>
                <a:spcPts val="400"/>
              </a:spcAft>
            </a:pPr>
            <a:r>
              <a:rPr lang="en-IN" sz="950" b="1" kern="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R</a:t>
            </a:r>
            <a:r>
              <a:rPr lang="en-US" sz="950" b="1" kern="0" spc="-20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aj</a:t>
            </a:r>
            <a:r>
              <a:rPr lang="en-US" sz="950" b="1" kern="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 </a:t>
            </a:r>
            <a:r>
              <a:rPr lang="en-US" sz="950" b="1" kern="0" spc="-20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Bhut</a:t>
            </a:r>
            <a:endParaRPr lang="en-US" sz="9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· APIs · Deployment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233360" y="4559399"/>
            <a:ext cx="6296860" cy="932656"/>
          </a:xfrm>
          <a:prstGeom prst="roundRect">
            <a:avLst>
              <a:gd name="adj" fmla="val 5719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79407" y="4705449"/>
            <a:ext cx="600476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IoT / Domain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379407" y="4955084"/>
            <a:ext cx="6004767" cy="3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000"/>
              </a:lnSpc>
              <a:spcAft>
                <a:spcPts val="400"/>
              </a:spcAft>
              <a:buNone/>
            </a:pPr>
            <a:r>
              <a:rPr lang="en-IN" sz="950" b="1" kern="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Bhavik </a:t>
            </a:r>
            <a:r>
              <a:rPr lang="en-IN" sz="950" b="1" kern="0" spc="-20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Rabadiya</a:t>
            </a:r>
            <a:endParaRPr lang="en-US" sz="9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MQTT · Telemetry · Cold-chain rules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233360" y="5588000"/>
            <a:ext cx="6296860" cy="686197"/>
          </a:xfrm>
          <a:prstGeom prst="roundRect">
            <a:avLst>
              <a:gd name="adj" fmla="val 777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66707" y="5721350"/>
            <a:ext cx="603016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7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r>
              <a:rPr lang="en-US" sz="1200" b="1" kern="0" spc="-3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Live Demo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66707" y="5970984"/>
            <a:ext cx="6030166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b="1" u="sng" kern="0" spc="-20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https://frontend-theta-sandy-vt0dijop0s.vercel.app/</a:t>
            </a:r>
            <a:endParaRPr lang="en-US" sz="9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4F625FD-79F3-4755-8E4E-61D7F0FD03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0311501" y="6331432"/>
            <a:ext cx="1828301" cy="462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950BC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471</Words>
  <Application>Microsoft Office PowerPoint</Application>
  <PresentationFormat>Widescreen</PresentationFormat>
  <Paragraphs>100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Arial</vt:lpstr>
      <vt:lpstr>Inter</vt:lpstr>
      <vt:lpstr>Inter Bold</vt:lpstr>
      <vt:lpstr>Twemoji Mozilla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Dipal Barvaliya</cp:lastModifiedBy>
  <cp:revision>4</cp:revision>
  <dcterms:created xsi:type="dcterms:W3CDTF">2026-09-15T15:52:28Z</dcterms:created>
  <dcterms:modified xsi:type="dcterms:W3CDTF">2026-09-15T17:23:28Z</dcterms:modified>
</cp:coreProperties>
</file>